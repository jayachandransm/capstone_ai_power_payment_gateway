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9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PRODAPT CAPSTONE · 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AI-Powered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Payment Gateway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Full-stack fintech platform with real-time fraud detection,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multi-agent AI orchestration, and RAG-powered support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37960" y="100584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1B4C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1112" y="104241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49/49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1112" y="1444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Tests Passing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20116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1B4C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11112" y="20482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11112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E2E Coverage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30175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1B4C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1112" y="305409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Grade 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11112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DeepEval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40233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1B4C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11112" y="405993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11112" y="4462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Docker Services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Jayachandran Swarnamoorthy  ·  Mentor: Siva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5084506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6 containerised services · Docker Compose · WSL2 VM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77824"/>
            <a:ext cx="640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8778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USER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1517904"/>
            <a:ext cx="64008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15179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GATEWAY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2221992"/>
            <a:ext cx="640080" cy="5029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22219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SERVICES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0" y="3300984"/>
            <a:ext cx="6400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33009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DATA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77240" y="84124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BF5FF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914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🌐  Browser / 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64208" y="1371600"/>
            <a:ext cx="36576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1508760"/>
            <a:ext cx="7589520" cy="530352"/>
          </a:xfrm>
          <a:prstGeom prst="roundRect">
            <a:avLst>
              <a:gd name="adj" fmla="val 13793"/>
            </a:avLst>
          </a:prstGeom>
          <a:solidFill>
            <a:srgbClr val="F8FAFF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15819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56DB"/>
                </a:solidFill>
              </a:rPr>
              <a:t>Nginx Gateway  — reverse proxy · /api/v1/ → core_api · /api/ai/ → ai_service · / → frontend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20240" y="2039112"/>
            <a:ext cx="36576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2039112"/>
            <a:ext cx="36576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2039112"/>
            <a:ext cx="36576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2221992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2221992"/>
            <a:ext cx="242316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2221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252374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FastAPI · Port 8000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Auth · Payments · Wallets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Refunds · Admin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221992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37560" y="2221992"/>
            <a:ext cx="24231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2221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Service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252374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FastAPI · Port 8001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RAG · NLP · Agents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DeepEval · Sessions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97880" y="2221992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016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97880" y="2221992"/>
            <a:ext cx="242316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0" y="2221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252374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React 18 + Nginx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3 role dashboards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TypeScript + Tailwind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3136392"/>
            <a:ext cx="36576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26280" y="3136392"/>
            <a:ext cx="36576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7240" y="32918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DF0"/>
          </a:solidFill>
          <a:ln w="1016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" y="3291840"/>
            <a:ext cx="2423160" cy="256032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29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PostgreSQL 16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" y="3566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4 schemas + pgvector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HNSW index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37560" y="32918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DF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37560" y="3291840"/>
            <a:ext cx="24231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8328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Redis 7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29000" y="3566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Idempotency keys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FX cache · Sessions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97880" y="32918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97880" y="3291840"/>
            <a:ext cx="2423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 OpenAI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989320" y="3566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GPT-5.4-mini · GPT-5.4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0F1B4C"/>
                </a:solidFill>
              </a:rPr>
              <a:t>text-embedding-3-small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Meet the Demo Personas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</a:rPr>
              <a:t>Four real journeys — one login, three experiences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0F1B4C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1078992"/>
            <a:ext cx="1865376" cy="237744"/>
          </a:xfrm>
          <a:prstGeom prst="roundRect">
            <a:avLst>
              <a:gd name="adj" fmla="val 1538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0789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CUSTOMER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1752" y="137160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🇮🇳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" y="176479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Priya Sharma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01168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priya@example.com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2860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UPI payment to merchant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26243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Request refund → get notified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296265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Raise dispute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" y="330098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FX wallet conversion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8328" y="363931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MFA profile setup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41448" y="100584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0F1B4C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51176" y="1078992"/>
            <a:ext cx="1865376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51176" y="10789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CUSTOMER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137160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🇺🇸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14600" y="176479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Carlos Mendez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01168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carlos@example.com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51176" y="22860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USD card payment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51176" y="26243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Multi-currency wallet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51176" y="296265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International FX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51176" y="330098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Transaction history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54296" y="100584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0F1B4C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64024" y="1078992"/>
            <a:ext cx="1865376" cy="237744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64024" y="10789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MERCHANT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27448" y="137160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27448" y="176479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Raj Patel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27448" y="201168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raj@merchant.com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64024" y="22860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Revenue dashboard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64024" y="26243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Settlement reconciliation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64024" y="296265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AI settlement summary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64024" y="330098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AI support chat (RAG)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64024" y="363931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Session memory (multi-turn)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67144" y="100584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0F1B4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76872" y="1078992"/>
            <a:ext cx="1865376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76872" y="1078992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0296" y="137160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940296" y="176479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Sara Chen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0296" y="2011680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sara@paygw.com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76872" y="22860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Fraud queue + AI explain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76872" y="26243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Run multi-agent analysis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76872" y="296265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Approve / reject refunds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76872" y="330098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Resolve disputes (AI agent)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76872" y="363931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→  User management + KYC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All passwords: Admin@123  ·  http://172.21.155.61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772577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 Will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4C"/>
                </a:solidFill>
              </a:rPr>
              <a:t>Positive Flows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One-click login → role dashboard routing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UPI/Card/NEFT payment with fraud score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883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Idempotency — retry = same TX, no double charge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Live FX: 10,000 INR → USD at open.er-api.com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688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Refund approve → wallet credited, bell notification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090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AI Explain fraud alert (Azure OpenAI GPT-5.4-mini)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493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RAG support chat: confidence 0.85, 8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38953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Multi-agent: FraudAgent + ComplianceAgent + DisputeAgent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4297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✅  DeepEval: Grade A, accuracy 1.0, 20-sample batch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44568" y="749808"/>
            <a:ext cx="27432" cy="4069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4C"/>
                </a:solidFill>
              </a:rPr>
              <a:t>Negative Flows (Guardrails)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₹9,850 structuring → flagged (fraud=0.48)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14813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Refund on flagged tx → BLOCKED by system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1883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Self-payment → "Cannot send to yourself"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286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Invalid UPI → "UPI handle not found"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2688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Insufficient balance → payment rejected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Customer → /admin → 403 RBAC block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3493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❌  Admin rejects refund → wallet unchanged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Features Deep 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Built on Azure OpenAI GPT-5.4 · pgvector HNSW · Multi-agent orchestration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87952" cy="1719072"/>
          </a:xfrm>
          <a:prstGeom prst="roundRect">
            <a:avLst>
              <a:gd name="adj" fmla="val 4255"/>
            </a:avLst>
          </a:prstGeom>
          <a:solidFill>
            <a:srgbClr val="0F1B4C"/>
          </a:solidFill>
          <a:ln w="1016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87952" cy="310896"/>
          </a:xfrm>
          <a:prstGeom prst="roundRect">
            <a:avLst>
              <a:gd name="adj" fmla="val 20588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44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pgvector HNSW (1,536-dim, text-embedding-3-small)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655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Dice-coefficient keyword fallback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Confidence: 0.85  ·  Sources: 8  ·  Top-K: 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Powers merchant AI support chat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960120"/>
            <a:ext cx="4187952" cy="1719072"/>
          </a:xfrm>
          <a:prstGeom prst="roundRect">
            <a:avLst>
              <a:gd name="adj" fmla="val 4255"/>
            </a:avLst>
          </a:prstGeom>
          <a:solidFill>
            <a:srgbClr val="0F1B4C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81728" y="960120"/>
            <a:ext cx="4187952" cy="310896"/>
          </a:xfrm>
          <a:prstGeom prst="roundRect">
            <a:avLst>
              <a:gd name="adj" fmla="val 2058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96012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NLP Failure Detector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44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Plain-English query → failure pattern mapping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655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Multi-factor confidence scoring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Confidence: 0.919  ·  Intents: ['card', 'fraud']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Tool dispatch: analyze_fraud_risk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4187952" cy="1719072"/>
          </a:xfrm>
          <a:prstGeom prst="roundRect">
            <a:avLst>
              <a:gd name="adj" fmla="val 4255"/>
            </a:avLst>
          </a:prstGeom>
          <a:solidFill>
            <a:srgbClr val="0F1B4C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4187952" cy="310896"/>
          </a:xfrm>
          <a:prstGeom prst="roundRect">
            <a:avLst>
              <a:gd name="adj" fmla="val 2058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Multi-Agent Orchestrator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PaymentOrchestrator → 4 specialist agents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192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FraudAgent · ComplianceAgent · DisputeAgent · MerchantAgent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3192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Root cause ranking with likelihood scores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192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Escalation recommendation + resolution steps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2880360"/>
            <a:ext cx="4187952" cy="1719072"/>
          </a:xfrm>
          <a:prstGeom prst="roundRect">
            <a:avLst>
              <a:gd name="adj" fmla="val 4255"/>
            </a:avLst>
          </a:prstGeom>
          <a:solidFill>
            <a:srgbClr val="0F1B4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81728" y="2880360"/>
            <a:ext cx="4187952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288036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DeepEval (LLM-as-Judge)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Batch evaluation against 20 transactions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Faithfulness · Relevance · Answer accuracy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Grade: A  ·  Accuracy: 1.0  ·  F1: 0.95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· On-demand: POST /api/ai/evaluate/batch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Technical Decisions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011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12 ADRs in DECISIONS.md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78992" y="8778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PostgreSQL over NoSQL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18872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ACID transactions required for double-entry ledger correctness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896112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896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13832" y="8778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Redis two-key idempotency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18872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Lock key prevents concurrent duplicates; result key handles retries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938528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9385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78992" y="19202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pgvector over Pinecone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23113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Zero additional infrastructure; embeddings co-located with transactions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847088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938528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9385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513832" y="19202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Azure OpenAI over self-hosted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23113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Enterprise SLA, no GPU setup; Prodapt Azure subscription already active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89504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980944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298094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ADR-007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78992" y="29626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Deterministic rules + LLM explain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27355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Rules are auditable; LLM adds human-readable context for admins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889504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2980944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98094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ADR-008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13832" y="29626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Multi-agent orchestrator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27355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Specialist agents produce higher quality outputs than one generic LLM call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931920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0233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ADR-011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78992" y="40050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Double-entry ledger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31596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Zero-imbalance invariant enforced in same DB transaction as wallet update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931920"/>
            <a:ext cx="4160520" cy="877824"/>
          </a:xfrm>
          <a:prstGeom prst="roundRect">
            <a:avLst>
              <a:gd name="adj" fmla="val 6250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402336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40233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ADR-012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13832" y="40050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4C"/>
                </a:solidFill>
              </a:rPr>
              <a:t>Docker Compose over K8s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431596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One command starts all 6 services; right fit for a single-VM demo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F1B4C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8595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</a:rPr>
              <a:t>95%+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3533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Basic Req.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Target ≥ 90%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41448" y="80467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F1B4C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8595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85%+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13533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Advanced Req.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157276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Target ≥ 30%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80467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F1B4C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8595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Grade 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81728" y="13533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DeepEval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81728" y="157276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Accuracy 1.0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75704" y="804672"/>
            <a:ext cx="1993392" cy="1005840"/>
          </a:xfrm>
          <a:prstGeom prst="roundRect">
            <a:avLst>
              <a:gd name="adj" fmla="val 7273"/>
            </a:avLst>
          </a:prstGeom>
          <a:solidFill>
            <a:srgbClr val="0F1B4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859536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49/49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48856" y="135331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E2E Tests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48856" y="157276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100% passing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19933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What was built in 3 days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23408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49 API endpoints across 2 FastAPI services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6883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10 fraud detection rules with LLM explanation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035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RAG pipeline with pgvector HNSW semantic search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Multi-agent AI with 4 specialist agents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730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3 role-specific React dashboards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782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Full refund → notification → wallet credit 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256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✦  Razorpay sandbox with simulate-payment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9933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</a:rPr>
              <a:t>Path to production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23408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Kubernetes (EKS/AKS) for high availability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6883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Multi-AZ PostgreSQL + Redis Cluster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035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TLS + WAF + rate limiting via Cloudflare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383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PCI-DSS Level 1 assessment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730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RBI Payment Aggregator licence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0782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Prometheus + Grafana monitoring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4256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→  OpenTelemetry distributed tracing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github.com/JayachandranSM/Capstone_AI_Power_Payment_Gateway  ·  http://172.21.155.61  ·  /docs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772577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898</Words>
  <Application>Microsoft Office PowerPoint</Application>
  <PresentationFormat>On-screen Show (16:9)</PresentationFormat>
  <Paragraphs>185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Payment Gateway — Capstone Demo</dc:title>
  <dc:subject>PptxGenJS Presentation</dc:subject>
  <dc:creator>Jayachandran Swarnamoorthy</dc:creator>
  <cp:lastModifiedBy>Jayachandran S</cp:lastModifiedBy>
  <cp:revision>2</cp:revision>
  <dcterms:created xsi:type="dcterms:W3CDTF">2026-06-27T03:40:29Z</dcterms:created>
  <dcterms:modified xsi:type="dcterms:W3CDTF">2026-06-27T04:30:03Z</dcterms:modified>
</cp:coreProperties>
</file>